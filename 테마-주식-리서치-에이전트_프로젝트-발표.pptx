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A85F51-4776-4372-A3C6-A1CFD25264B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THEME STOCK RESEARCH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A0D559-62A3-4DC8-B35B-2B03BF11BEB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572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테마 주식</a:t>
            </a:r>
          </a:p>
          <a:p>
            <a:pPr algn="l"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리서치 에이전트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46EE4B-D823-47C2-BA17-ABC588D31484}"/>
              </a:ext>
            </a:extLst>
          </p:cNvPr>
          <p:cNvSpPr>
            <a:spLocks noGrp="1"/>
          </p:cNvSpPr>
          <p:nvPr/>
        </p:nvSpPr>
        <p:spPr>
          <a:xfrm>
            <a:off x="714375" y="3105150"/>
            <a:ext cx="704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52606D"/>
                </a:solidFill>
              </a:defRPr>
            </a:pPr>
            <a:r>
              <a:rPr sz="1875" b="0">
                <a:solidFill>
                  <a:srgbClr val="52606D"/>
                </a:solidFill>
              </a:rPr>
              <a:t>공개 정보 기반 KRX 테마 종목 리서치 보조 도구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54802BA6-DEE4-4BBA-ABD5-3AE68502919A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6553200" cy="0"/>
          </a:xfrm>
          <a:prstGeom prst="line">
            <a:avLst/>
          </a:prstGeom>
          <a:ln w="38100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A5DAC9-EB1F-4B25-B50F-5132F4C258A3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프로젝트 발표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8ED859-B1C2-49D4-9E04-5A80BB20D937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2026. 07. 28  |  Theme-Stock-Research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5390FE-9CA3-42DC-9572-6952C1663265}"/>
              </a:ext>
            </a:extLst>
          </p:cNvPr>
          <p:cNvSpPr>
            <a:spLocks noGrp="1"/>
          </p:cNvSpPr>
          <p:nvPr/>
        </p:nvSpPr>
        <p:spPr>
          <a:xfrm>
            <a:off x="8267700" y="1181100"/>
            <a:ext cx="2590800" cy="32004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8285D8-73F5-4AD0-9333-AE59434E5B53}"/>
              </a:ext>
            </a:extLst>
          </p:cNvPr>
          <p:cNvSpPr>
            <a:spLocks noGrp="1"/>
          </p:cNvSpPr>
          <p:nvPr/>
        </p:nvSpPr>
        <p:spPr>
          <a:xfrm>
            <a:off x="8620125" y="15716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C7A636-A44F-42CC-AB84-991317DA3162}"/>
              </a:ext>
            </a:extLst>
          </p:cNvPr>
          <p:cNvSpPr>
            <a:spLocks noGrp="1"/>
          </p:cNvSpPr>
          <p:nvPr/>
        </p:nvSpPr>
        <p:spPr>
          <a:xfrm>
            <a:off x="8477250" y="19812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테마 · 비교 종목 수</a:t>
            </a:r>
          </a:p>
        </p:txBody>
      </p:sp>
      <p:sp>
        <p:nvSpPr>
          <p:cNvPr id="10" name="직선 연결선[R] 9">
            <a:extLst>
              <a:ext uri="{FF2B5EF4-FFF2-40B4-BE49-F238E27FC236}">
                <a16:creationId xmlns:a16="http://schemas.microsoft.com/office/drawing/2014/main" id="{AB4E1BCD-1245-471E-9DD1-F8648502800A}"/>
              </a:ext>
            </a:extLst>
          </p:cNvPr>
          <p:cNvSpPr>
            <a:spLocks noGrp="1"/>
          </p:cNvSpPr>
          <p:nvPr/>
        </p:nvSpPr>
        <p:spPr>
          <a:xfrm>
            <a:off x="8858250" y="2457450"/>
            <a:ext cx="1428750" cy="0"/>
          </a:xfrm>
          <a:prstGeom prst="line">
            <a:avLst/>
          </a:prstGeom>
          <a:ln w="28575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F04490-58E8-44E1-99E9-0F48DFF08490}"/>
              </a:ext>
            </a:extLst>
          </p:cNvPr>
          <p:cNvSpPr>
            <a:spLocks noGrp="1"/>
          </p:cNvSpPr>
          <p:nvPr/>
        </p:nvSpPr>
        <p:spPr>
          <a:xfrm>
            <a:off x="8572500" y="27622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리서치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B202AC-B93A-4DDC-9D7A-E713C12AC742}"/>
              </a:ext>
            </a:extLst>
          </p:cNvPr>
          <p:cNvSpPr>
            <a:spLocks noGrp="1"/>
          </p:cNvSpPr>
          <p:nvPr/>
        </p:nvSpPr>
        <p:spPr>
          <a:xfrm>
            <a:off x="8477250" y="316230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공시 · 시장 · 뉴스</a:t>
            </a:r>
          </a:p>
          <a:p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출처 기반 정리</a:t>
            </a:r>
          </a:p>
        </p:txBody>
      </p:sp>
      <p:sp>
        <p:nvSpPr>
          <p:cNvPr id="13" name="직선 연결선[R] 12">
            <a:extLst>
              <a:ext uri="{FF2B5EF4-FFF2-40B4-BE49-F238E27FC236}">
                <a16:creationId xmlns:a16="http://schemas.microsoft.com/office/drawing/2014/main" id="{C7D54ABB-4879-4BC7-9CAF-3301F8F404E2}"/>
              </a:ext>
            </a:extLst>
          </p:cNvPr>
          <p:cNvSpPr>
            <a:spLocks noGrp="1"/>
          </p:cNvSpPr>
          <p:nvPr/>
        </p:nvSpPr>
        <p:spPr>
          <a:xfrm>
            <a:off x="8858250" y="3962400"/>
            <a:ext cx="1428750" cy="0"/>
          </a:xfrm>
          <a:prstGeom prst="line">
            <a:avLst/>
          </a:prstGeom>
          <a:ln w="28575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B574916-DAF8-428A-ADE9-92FA73BE55A1}"/>
              </a:ext>
            </a:extLst>
          </p:cNvPr>
          <p:cNvSpPr>
            <a:spLocks noGrp="1"/>
          </p:cNvSpPr>
          <p:nvPr/>
        </p:nvSpPr>
        <p:spPr>
          <a:xfrm>
            <a:off x="8572500" y="42481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보고서</a:t>
            </a:r>
          </a:p>
        </p:txBody>
      </p:sp>
    </p:spTree>
    <p:extLst>
      <p:ext uri="{BB962C8B-B14F-4D97-AF65-F5344CB8AC3E}">
        <p14:creationId xmlns:p14="http://schemas.microsoft.com/office/powerpoint/2010/main" val="347555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C7C733-F7C2-412C-9DAE-486B1ABA980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77B42C-3DF9-4A61-B676-036601F99A3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왜 ‘근거 있는 테마 리서치’가 필요한가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1D0BDB-1007-4A76-AF4F-FBCCF51CCCD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종목 언급이나 가격 흐름만으로 테마 관련성을 판단하지 않는다.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2DD6E6AE-9095-465F-B191-D514CF694A0C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09D9EC-7F53-492F-8C4D-96FAC1D4187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EF0194-7107-4692-85D9-1A75E902CA70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2 / 12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A7E06A-2F2C-48C3-9EDE-D1A6D1FA77F6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7C8"/>
                </a:solidFill>
              </a:defRPr>
            </a:pPr>
            <a:r>
              <a:rPr sz="1800" b="1">
                <a:solidFill>
                  <a:srgbClr val="1677C8"/>
                </a:solidFill>
              </a:rPr>
              <a:t>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D42253-3699-4C3B-A779-B61DE67D7102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7C8"/>
                </a:solidFill>
              </a:defRPr>
            </a:pPr>
            <a:r>
              <a:rPr sz="1575" b="1">
                <a:solidFill>
                  <a:srgbClr val="1677C8"/>
                </a:solidFill>
              </a:rPr>
              <a:t>•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F1AF0C-21D9-4EFA-B904-93BB0FBC485E}"/>
              </a:ext>
            </a:extLst>
          </p:cNvPr>
          <p:cNvSpPr>
            <a:spLocks noGrp="1"/>
          </p:cNvSpPr>
          <p:nvPr/>
        </p:nvSpPr>
        <p:spPr>
          <a:xfrm>
            <a:off x="952500" y="281940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테마 종목의 사업 연관성은 분산된 공시·IR·공식 자료에서 확인해야 한다.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448487-3C9E-4F68-85FD-8AE3EEDB65DD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CBDCD9-2AD0-4AEF-A962-8268EF6D01EC}"/>
              </a:ext>
            </a:extLst>
          </p:cNvPr>
          <p:cNvSpPr>
            <a:spLocks noGrp="1"/>
          </p:cNvSpPr>
          <p:nvPr/>
        </p:nvSpPr>
        <p:spPr>
          <a:xfrm>
            <a:off x="952500" y="331470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수치 기준일과 출처가 없으면 비교 결과의 재현·검증이 어렵다.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F8DA3A-E1FB-47AD-857B-646EE39D418F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707F57-627D-4996-91A4-717E28E244B1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ETF·ETN·우선주·SPAC를 섞으면 국내 보통주 비교 범위가 흐려진다.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82F5B5-ECA5-4C5B-9D08-ED65453A1F2E}"/>
              </a:ext>
            </a:extLst>
          </p:cNvPr>
          <p:cNvSpPr>
            <a:spLocks noGrp="1"/>
          </p:cNvSpPr>
          <p:nvPr/>
        </p:nvSpPr>
        <p:spPr>
          <a:xfrm>
            <a:off x="6743700" y="2381250"/>
            <a:ext cx="4762500" cy="25908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BCB7E86-9F9C-499C-86C5-92B6DB9AA900}"/>
              </a:ext>
            </a:extLst>
          </p:cNvPr>
          <p:cNvSpPr>
            <a:spLocks noGrp="1"/>
          </p:cNvSpPr>
          <p:nvPr/>
        </p:nvSpPr>
        <p:spPr>
          <a:xfrm>
            <a:off x="7086600" y="26860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기획 의도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D65E6C-D0EA-4417-BCC8-952B4BF0DE5B}"/>
              </a:ext>
            </a:extLst>
          </p:cNvPr>
          <p:cNvSpPr>
            <a:spLocks noGrp="1"/>
          </p:cNvSpPr>
          <p:nvPr/>
        </p:nvSpPr>
        <p:spPr>
          <a:xfrm>
            <a:off x="7086600" y="3219450"/>
            <a:ext cx="3714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2606D"/>
                </a:solidFill>
              </a:defRPr>
            </a:pPr>
            <a:r>
              <a:rPr sz="1725" b="0" dirty="0" err="1">
                <a:solidFill>
                  <a:srgbClr val="52606D"/>
                </a:solidFill>
              </a:rPr>
              <a:t>입력한</a:t>
            </a:r>
            <a:r>
              <a:rPr sz="1725" b="0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테마를</a:t>
            </a:r>
            <a:r>
              <a:rPr sz="1725" b="0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국내</a:t>
            </a:r>
            <a:r>
              <a:rPr sz="1725" b="0" dirty="0">
                <a:solidFill>
                  <a:srgbClr val="52606D"/>
                </a:solidFill>
              </a:rPr>
              <a:t> KRX </a:t>
            </a:r>
            <a:r>
              <a:rPr sz="1725" b="0" dirty="0" err="1">
                <a:solidFill>
                  <a:srgbClr val="52606D"/>
                </a:solidFill>
              </a:rPr>
              <a:t>보통주</a:t>
            </a:r>
            <a:r>
              <a:rPr sz="1725" b="0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중심으로</a:t>
            </a:r>
            <a:r>
              <a:rPr lang="en-US" sz="1725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정의하고</a:t>
            </a:r>
            <a:r>
              <a:rPr sz="1725" b="0" dirty="0">
                <a:solidFill>
                  <a:srgbClr val="52606D"/>
                </a:solidFill>
              </a:rPr>
              <a:t>, </a:t>
            </a:r>
            <a:r>
              <a:rPr sz="1725" b="0" dirty="0" err="1">
                <a:solidFill>
                  <a:srgbClr val="52606D"/>
                </a:solidFill>
              </a:rPr>
              <a:t>후보·기본</a:t>
            </a:r>
            <a:r>
              <a:rPr sz="1725" b="0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지표·뉴스·출처를</a:t>
            </a:r>
            <a:r>
              <a:rPr lang="en-US" sz="1725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한</a:t>
            </a:r>
            <a:r>
              <a:rPr sz="1725" b="0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개의</a:t>
            </a:r>
            <a:r>
              <a:rPr sz="1725" b="0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구조화된</a:t>
            </a:r>
            <a:r>
              <a:rPr sz="1725" b="0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보고서로</a:t>
            </a:r>
            <a:r>
              <a:rPr sz="1725" b="0" dirty="0">
                <a:solidFill>
                  <a:srgbClr val="52606D"/>
                </a:solidFill>
              </a:rPr>
              <a:t> </a:t>
            </a:r>
            <a:r>
              <a:rPr sz="1725" b="0" dirty="0" err="1">
                <a:solidFill>
                  <a:srgbClr val="52606D"/>
                </a:solidFill>
              </a:rPr>
              <a:t>연결한다</a:t>
            </a:r>
            <a:endParaRPr sz="1725" b="0" dirty="0">
              <a:solidFill>
                <a:srgbClr val="52606D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F2DA4C8-CCBC-4BAC-B404-B3F450126C32}"/>
              </a:ext>
            </a:extLst>
          </p:cNvPr>
          <p:cNvSpPr>
            <a:spLocks noGrp="1"/>
          </p:cNvSpPr>
          <p:nvPr/>
        </p:nvSpPr>
        <p:spPr>
          <a:xfrm>
            <a:off x="7086600" y="4695825"/>
            <a:ext cx="1476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rPr sz="1050" b="1" dirty="0" err="1">
                <a:solidFill>
                  <a:srgbClr val="B45309"/>
                </a:solidFill>
              </a:rPr>
              <a:t>투자</a:t>
            </a:r>
            <a:r>
              <a:rPr sz="1050" b="1" dirty="0">
                <a:solidFill>
                  <a:srgbClr val="B45309"/>
                </a:solidFill>
              </a:rPr>
              <a:t> </a:t>
            </a:r>
            <a:r>
              <a:rPr sz="1050" b="1" dirty="0" err="1">
                <a:solidFill>
                  <a:srgbClr val="B45309"/>
                </a:solidFill>
              </a:rPr>
              <a:t>자문</a:t>
            </a:r>
            <a:r>
              <a:rPr sz="1050" b="1" dirty="0">
                <a:solidFill>
                  <a:srgbClr val="B45309"/>
                </a:solidFill>
              </a:rPr>
              <a:t> </a:t>
            </a:r>
            <a:r>
              <a:rPr sz="1050" b="1" dirty="0" err="1">
                <a:solidFill>
                  <a:srgbClr val="B45309"/>
                </a:solidFill>
              </a:rPr>
              <a:t>아님</a:t>
            </a:r>
            <a:endParaRPr sz="1050" b="1" dirty="0">
              <a:solidFill>
                <a:srgbClr val="B453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42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8FE309-E48A-485A-84FD-A62233A78AB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5854AE-FE51-475A-B691-9EA2A967E6BC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핵심 기능은 ‘근거 → 비교 → 보고서’ 흐름으로 연결된다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15624142-6DE0-4802-ACFD-6B84D4966425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C17E97-A64D-4039-8348-CB6ECD17B60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BCAE10-4259-4910-A6F0-8ACA89782682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3 / 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63CC23-73DE-49EE-AAB9-E62343F38FBA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428875" cy="25717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1DC661-C8A6-4957-A21F-1316B2668C21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C5F590-4BDD-4066-B3A4-A1F958F97317}"/>
              </a:ext>
            </a:extLst>
          </p:cNvPr>
          <p:cNvSpPr>
            <a:spLocks noGrp="1"/>
          </p:cNvSpPr>
          <p:nvPr/>
        </p:nvSpPr>
        <p:spPr>
          <a:xfrm>
            <a:off x="933450" y="3181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입력 검증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38AC9D-3116-4FB3-A302-4BAD0948D316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테마·국내 종목명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top_n(1~10)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470CC7-776A-41F4-8D15-156BC54B7652}"/>
              </a:ext>
            </a:extLst>
          </p:cNvPr>
          <p:cNvSpPr>
            <a:spLocks noGrp="1"/>
          </p:cNvSpPr>
          <p:nvPr/>
        </p:nvSpPr>
        <p:spPr>
          <a:xfrm>
            <a:off x="3171825" y="342900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77C8"/>
                </a:solidFill>
              </a:defRPr>
            </a:pPr>
            <a:r>
              <a:rPr sz="180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66D6CA-696F-4637-B9C0-903CF44EF097}"/>
              </a:ext>
            </a:extLst>
          </p:cNvPr>
          <p:cNvSpPr>
            <a:spLocks noGrp="1"/>
          </p:cNvSpPr>
          <p:nvPr/>
        </p:nvSpPr>
        <p:spPr>
          <a:xfrm>
            <a:off x="3476625" y="2457450"/>
            <a:ext cx="2428875" cy="25717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C71351-5F1A-49CE-A0D7-4443A9A32EE5}"/>
              </a:ext>
            </a:extLst>
          </p:cNvPr>
          <p:cNvSpPr>
            <a:spLocks noGrp="1"/>
          </p:cNvSpPr>
          <p:nvPr/>
        </p:nvSpPr>
        <p:spPr>
          <a:xfrm>
            <a:off x="3724275" y="2724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527858-EA45-42FC-8DE9-95077E9683AD}"/>
              </a:ext>
            </a:extLst>
          </p:cNvPr>
          <p:cNvSpPr>
            <a:spLocks noGrp="1"/>
          </p:cNvSpPr>
          <p:nvPr/>
        </p:nvSpPr>
        <p:spPr>
          <a:xfrm>
            <a:off x="3724275" y="3181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후보 선정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F9B0E0-EF5B-4AB0-8937-A0B44D2566CB}"/>
              </a:ext>
            </a:extLst>
          </p:cNvPr>
          <p:cNvSpPr>
            <a:spLocks noGrp="1"/>
          </p:cNvSpPr>
          <p:nvPr/>
        </p:nvSpPr>
        <p:spPr>
          <a:xfrm>
            <a:off x="3724275" y="3714750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KRX 보통주 필터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직접성·근거 우선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7A84E1-9901-4C24-91E1-2ACAA6F3A9CA}"/>
              </a:ext>
            </a:extLst>
          </p:cNvPr>
          <p:cNvSpPr>
            <a:spLocks noGrp="1"/>
          </p:cNvSpPr>
          <p:nvPr/>
        </p:nvSpPr>
        <p:spPr>
          <a:xfrm>
            <a:off x="5962650" y="342900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77C8"/>
                </a:solidFill>
              </a:defRPr>
            </a:pPr>
            <a:r>
              <a:rPr sz="180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2376D0-11BA-4BB4-A0EB-655FA0849C21}"/>
              </a:ext>
            </a:extLst>
          </p:cNvPr>
          <p:cNvSpPr>
            <a:spLocks noGrp="1"/>
          </p:cNvSpPr>
          <p:nvPr/>
        </p:nvSpPr>
        <p:spPr>
          <a:xfrm>
            <a:off x="6267450" y="2457450"/>
            <a:ext cx="2428875" cy="25717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DBA4C8-CB40-462D-BE3C-412327090829}"/>
              </a:ext>
            </a:extLst>
          </p:cNvPr>
          <p:cNvSpPr>
            <a:spLocks noGrp="1"/>
          </p:cNvSpPr>
          <p:nvPr/>
        </p:nvSpPr>
        <p:spPr>
          <a:xfrm>
            <a:off x="6515100" y="2724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107474-7BBD-4F52-8C11-7853B92805DC}"/>
              </a:ext>
            </a:extLst>
          </p:cNvPr>
          <p:cNvSpPr>
            <a:spLocks noGrp="1"/>
          </p:cNvSpPr>
          <p:nvPr/>
        </p:nvSpPr>
        <p:spPr>
          <a:xfrm>
            <a:off x="6515100" y="3181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정량·이슈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0AB8A2-09E2-45E8-8250-6DBE9A5A8816}"/>
              </a:ext>
            </a:extLst>
          </p:cNvPr>
          <p:cNvSpPr>
            <a:spLocks noGrp="1"/>
          </p:cNvSpPr>
          <p:nvPr/>
        </p:nvSpPr>
        <p:spPr>
          <a:xfrm>
            <a:off x="6515100" y="3714750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가격·거래량·기본 지표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뉴스·공시·리스크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22AB0BE-5180-48D2-A529-9102C4797564}"/>
              </a:ext>
            </a:extLst>
          </p:cNvPr>
          <p:cNvSpPr>
            <a:spLocks noGrp="1"/>
          </p:cNvSpPr>
          <p:nvPr/>
        </p:nvSpPr>
        <p:spPr>
          <a:xfrm>
            <a:off x="8753475" y="342900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677C8"/>
                </a:solidFill>
              </a:defRPr>
            </a:pPr>
            <a:r>
              <a:rPr sz="180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AA3E9A-154A-4745-BBF0-ABA7A38C30FB}"/>
              </a:ext>
            </a:extLst>
          </p:cNvPr>
          <p:cNvSpPr>
            <a:spLocks noGrp="1"/>
          </p:cNvSpPr>
          <p:nvPr/>
        </p:nvSpPr>
        <p:spPr>
          <a:xfrm>
            <a:off x="9058275" y="2457450"/>
            <a:ext cx="2428875" cy="25717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745F17-9BD5-470A-94C5-EEF6553E99E9}"/>
              </a:ext>
            </a:extLst>
          </p:cNvPr>
          <p:cNvSpPr>
            <a:spLocks noGrp="1"/>
          </p:cNvSpPr>
          <p:nvPr/>
        </p:nvSpPr>
        <p:spPr>
          <a:xfrm>
            <a:off x="9305925" y="2724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04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C5EF0C6-FA17-4FAB-B4EF-4D28B1280044}"/>
              </a:ext>
            </a:extLst>
          </p:cNvPr>
          <p:cNvSpPr>
            <a:spLocks noGrp="1"/>
          </p:cNvSpPr>
          <p:nvPr/>
        </p:nvSpPr>
        <p:spPr>
          <a:xfrm>
            <a:off x="9305925" y="3181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보고서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1CD1098-5D0E-4BE2-8DB2-E4F1909982F4}"/>
              </a:ext>
            </a:extLst>
          </p:cNvPr>
          <p:cNvSpPr>
            <a:spLocks noGrp="1"/>
          </p:cNvSpPr>
          <p:nvPr/>
        </p:nvSpPr>
        <p:spPr>
          <a:xfrm>
            <a:off x="9305925" y="3714750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화면 결과 + Markdown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출처·안내 문구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6C38868-1F7F-4F6C-9BFE-861353143357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차별점: 공식 출처 기반의 후보 선정 근거와 데이터 기준일을 결과에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778442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C99FAC-8F67-4C71-9AA8-FF265E31D74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7BEBBB-B568-4ACB-AAE0-B53C62FE9F19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React 화면과 FastAPI 리서치 계층을 분리해 확장성을 확보했다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47618651-61C4-4452-B276-C9273304F6F3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07A5D6-3BAE-4DD3-B0CC-D3E1BB7BE98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642A0C-4C6F-449E-8754-3969491FB0D3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4 / 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D2FEA1-41AC-49DE-B1B6-79E05D0010EE}"/>
              </a:ext>
            </a:extLst>
          </p:cNvPr>
          <p:cNvSpPr>
            <a:spLocks noGrp="1"/>
          </p:cNvSpPr>
          <p:nvPr/>
        </p:nvSpPr>
        <p:spPr>
          <a:xfrm>
            <a:off x="800100" y="2628900"/>
            <a:ext cx="2952750" cy="23622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2961-F1DA-4332-BAEF-67F6E598C4A9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Frontend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8C6C032E-5217-4F8F-AF99-41719EB52BB4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2352675" cy="0"/>
          </a:xfrm>
          <a:prstGeom prst="line">
            <a:avLst/>
          </a:prstGeom>
          <a:ln w="28575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C896E0-71FC-4DEF-BD10-ECEF74CE7B49}"/>
              </a:ext>
            </a:extLst>
          </p:cNvPr>
          <p:cNvSpPr>
            <a:spLocks noGrp="1"/>
          </p:cNvSpPr>
          <p:nvPr/>
        </p:nvSpPr>
        <p:spPr>
          <a:xfrm>
            <a:off x="1066800" y="35623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React · Vite · TypeScript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D38E09-E8F2-49E9-B91D-D2183F6C180B}"/>
              </a:ext>
            </a:extLst>
          </p:cNvPr>
          <p:cNvSpPr>
            <a:spLocks noGrp="1"/>
          </p:cNvSpPr>
          <p:nvPr/>
        </p:nvSpPr>
        <p:spPr>
          <a:xfrm>
            <a:off x="1066800" y="4048125"/>
            <a:ext cx="2333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테마 입력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후보·지표·뉴스 표시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19E554-2607-431F-A52D-597C38FB2C7B}"/>
              </a:ext>
            </a:extLst>
          </p:cNvPr>
          <p:cNvSpPr>
            <a:spLocks noGrp="1"/>
          </p:cNvSpPr>
          <p:nvPr/>
        </p:nvSpPr>
        <p:spPr>
          <a:xfrm>
            <a:off x="3838575" y="36004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77C8"/>
                </a:solidFill>
              </a:defRPr>
            </a:pPr>
            <a:r>
              <a:rPr sz="195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38779F-66C5-4D45-8AED-F53BAFE1E26A}"/>
              </a:ext>
            </a:extLst>
          </p:cNvPr>
          <p:cNvSpPr>
            <a:spLocks noGrp="1"/>
          </p:cNvSpPr>
          <p:nvPr/>
        </p:nvSpPr>
        <p:spPr>
          <a:xfrm>
            <a:off x="4438650" y="2628900"/>
            <a:ext cx="2952750" cy="23622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461A786-5574-4F6B-912B-7A8732FA98B1}"/>
              </a:ext>
            </a:extLst>
          </p:cNvPr>
          <p:cNvSpPr>
            <a:spLocks noGrp="1"/>
          </p:cNvSpPr>
          <p:nvPr/>
        </p:nvSpPr>
        <p:spPr>
          <a:xfrm>
            <a:off x="4705350" y="29146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API / Service</a:t>
            </a:r>
          </a:p>
        </p:txBody>
      </p:sp>
      <p:sp>
        <p:nvSpPr>
          <p:cNvPr id="14" name="직선 연결선[R] 13">
            <a:extLst>
              <a:ext uri="{FF2B5EF4-FFF2-40B4-BE49-F238E27FC236}">
                <a16:creationId xmlns:a16="http://schemas.microsoft.com/office/drawing/2014/main" id="{88A83D9D-4974-4423-90B5-0EE767FEADB0}"/>
              </a:ext>
            </a:extLst>
          </p:cNvPr>
          <p:cNvSpPr>
            <a:spLocks noGrp="1"/>
          </p:cNvSpPr>
          <p:nvPr/>
        </p:nvSpPr>
        <p:spPr>
          <a:xfrm>
            <a:off x="4705350" y="3371850"/>
            <a:ext cx="2352675" cy="0"/>
          </a:xfrm>
          <a:prstGeom prst="line">
            <a:avLst/>
          </a:prstGeom>
          <a:ln w="28575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D7484A-C160-4BAB-B6E2-051B0553F967}"/>
              </a:ext>
            </a:extLst>
          </p:cNvPr>
          <p:cNvSpPr>
            <a:spLocks noGrp="1"/>
          </p:cNvSpPr>
          <p:nvPr/>
        </p:nvSpPr>
        <p:spPr>
          <a:xfrm>
            <a:off x="4705350" y="35623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FastAPI · Python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0F1638-A047-4D3D-BCCD-9F7ADF350358}"/>
              </a:ext>
            </a:extLst>
          </p:cNvPr>
          <p:cNvSpPr>
            <a:spLocks noGrp="1"/>
          </p:cNvSpPr>
          <p:nvPr/>
        </p:nvSpPr>
        <p:spPr>
          <a:xfrm>
            <a:off x="4705350" y="4048125"/>
            <a:ext cx="2333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입력 검증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리서치 흐름 조합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Markdown 보고서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E03AA3-35EE-4CE1-9D04-477C3BCB269F}"/>
              </a:ext>
            </a:extLst>
          </p:cNvPr>
          <p:cNvSpPr>
            <a:spLocks noGrp="1"/>
          </p:cNvSpPr>
          <p:nvPr/>
        </p:nvSpPr>
        <p:spPr>
          <a:xfrm>
            <a:off x="7477125" y="36004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77C8"/>
                </a:solidFill>
              </a:defRPr>
            </a:pPr>
            <a:r>
              <a:rPr sz="195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6DC522-2F42-4965-9683-377696EDF032}"/>
              </a:ext>
            </a:extLst>
          </p:cNvPr>
          <p:cNvSpPr>
            <a:spLocks noGrp="1"/>
          </p:cNvSpPr>
          <p:nvPr/>
        </p:nvSpPr>
        <p:spPr>
          <a:xfrm>
            <a:off x="8077200" y="2628900"/>
            <a:ext cx="2952750" cy="23622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6F8697-B53B-4EEE-9037-32BBEFE5A7D6}"/>
              </a:ext>
            </a:extLst>
          </p:cNvPr>
          <p:cNvSpPr>
            <a:spLocks noGrp="1"/>
          </p:cNvSpPr>
          <p:nvPr/>
        </p:nvSpPr>
        <p:spPr>
          <a:xfrm>
            <a:off x="8343900" y="29146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Public Sources</a:t>
            </a:r>
          </a:p>
        </p:txBody>
      </p:sp>
      <p:sp>
        <p:nvSpPr>
          <p:cNvPr id="20" name="직선 연결선[R] 19">
            <a:extLst>
              <a:ext uri="{FF2B5EF4-FFF2-40B4-BE49-F238E27FC236}">
                <a16:creationId xmlns:a16="http://schemas.microsoft.com/office/drawing/2014/main" id="{360FDD69-D610-41E5-9448-B8AACF768DF0}"/>
              </a:ext>
            </a:extLst>
          </p:cNvPr>
          <p:cNvSpPr>
            <a:spLocks noGrp="1"/>
          </p:cNvSpPr>
          <p:nvPr/>
        </p:nvSpPr>
        <p:spPr>
          <a:xfrm>
            <a:off x="8343900" y="3371850"/>
            <a:ext cx="2352675" cy="0"/>
          </a:xfrm>
          <a:prstGeom prst="line">
            <a:avLst/>
          </a:prstGeom>
          <a:ln w="28575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A9A80BA-0D3C-4CD3-9A34-91DF0EFE3B7E}"/>
              </a:ext>
            </a:extLst>
          </p:cNvPr>
          <p:cNvSpPr>
            <a:spLocks noGrp="1"/>
          </p:cNvSpPr>
          <p:nvPr/>
        </p:nvSpPr>
        <p:spPr>
          <a:xfrm>
            <a:off x="8343900" y="35623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DART · KRX · Naver</a:t>
            </a:r>
          </a:p>
          <a:p>
            <a:pPr algn="l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OpenAI · yfinance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CBDE889-394B-4A0C-BCF4-0759DDA975DC}"/>
              </a:ext>
            </a:extLst>
          </p:cNvPr>
          <p:cNvSpPr>
            <a:spLocks noGrp="1"/>
          </p:cNvSpPr>
          <p:nvPr/>
        </p:nvSpPr>
        <p:spPr>
          <a:xfrm>
            <a:off x="8343900" y="4048125"/>
            <a:ext cx="2333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공시·기업 정보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시장·참고 데이터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34E2CE-80DA-4E08-B4A2-E850DCC82178}"/>
              </a:ext>
            </a:extLst>
          </p:cNvPr>
          <p:cNvSpPr>
            <a:spLocks noGrp="1"/>
          </p:cNvSpPr>
          <p:nvPr/>
        </p:nvSpPr>
        <p:spPr>
          <a:xfrm>
            <a:off x="1409700" y="55245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국내 분석 결과는 해외 참고 정보 수집 실패와 분리되어 생성되도록 설계</a:t>
            </a:r>
          </a:p>
        </p:txBody>
      </p:sp>
    </p:spTree>
    <p:extLst>
      <p:ext uri="{BB962C8B-B14F-4D97-AF65-F5344CB8AC3E}">
        <p14:creationId xmlns:p14="http://schemas.microsoft.com/office/powerpoint/2010/main" val="106618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49BE782-3B13-4F45-9809-3D5E4CB5872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666BA2-11C4-4618-9AE5-23A8E98CFB6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Git 이력으로 확인되는 실제 기여 범위를 정리했다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A7D9B8-7C6D-46AC-A634-48BD178F7AF0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팀원 성명·공식 역할표가 없으므로, 저장소 커밋 이력을 근거로 작성함.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F717E902-3ABD-4056-9471-13633DBD0263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03B318-01C1-4475-86C7-12915739B8A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09993E-71CA-4C37-96CC-B14B753889C5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5 / 12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B44241-6074-40FE-8E25-BCF991F66C6F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10820400" cy="23431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33CD44-48A3-4C82-B0C7-CF783825969A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77C8"/>
                </a:solidFill>
              </a:defRPr>
            </a:pPr>
            <a:r>
              <a:rPr sz="1500" b="1">
                <a:solidFill>
                  <a:srgbClr val="1677C8"/>
                </a:solidFill>
              </a:rPr>
              <a:t>기여자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00819B-B6FF-4FA5-80EC-81F8F8F9E6A5}"/>
              </a:ext>
            </a:extLst>
          </p:cNvPr>
          <p:cNvSpPr>
            <a:spLocks noGrp="1"/>
          </p:cNvSpPr>
          <p:nvPr/>
        </p:nvSpPr>
        <p:spPr>
          <a:xfrm>
            <a:off x="3238500" y="27051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77C8"/>
                </a:solidFill>
              </a:defRPr>
            </a:pPr>
            <a:r>
              <a:rPr sz="1500" b="1">
                <a:solidFill>
                  <a:srgbClr val="1677C8"/>
                </a:solidFill>
              </a:rPr>
              <a:t>확인된 수행 업무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707F9E-B53C-4CA3-B58C-E965E5E699D4}"/>
              </a:ext>
            </a:extLst>
          </p:cNvPr>
          <p:cNvSpPr>
            <a:spLocks noGrp="1"/>
          </p:cNvSpPr>
          <p:nvPr/>
        </p:nvSpPr>
        <p:spPr>
          <a:xfrm>
            <a:off x="8553450" y="27051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77C8"/>
                </a:solidFill>
              </a:defRPr>
            </a:pPr>
            <a:r>
              <a:rPr sz="1500" b="1">
                <a:solidFill>
                  <a:srgbClr val="1677C8"/>
                </a:solidFill>
              </a:rPr>
              <a:t>주요 결과물</a:t>
            </a:r>
          </a:p>
        </p:txBody>
      </p:sp>
      <p:sp>
        <p:nvSpPr>
          <p:cNvPr id="11" name="직선 연결선[R] 10">
            <a:extLst>
              <a:ext uri="{FF2B5EF4-FFF2-40B4-BE49-F238E27FC236}">
                <a16:creationId xmlns:a16="http://schemas.microsoft.com/office/drawing/2014/main" id="{B2DEF35C-0CCA-4A58-9F4E-27D42ACADA18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1026795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12017D-B041-44CC-A326-ABB3CA5EBE2E}"/>
              </a:ext>
            </a:extLst>
          </p:cNvPr>
          <p:cNvSpPr>
            <a:spLocks noGrp="1"/>
          </p:cNvSpPr>
          <p:nvPr/>
        </p:nvSpPr>
        <p:spPr>
          <a:xfrm>
            <a:off x="952500" y="331470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Lee-Dongwook</a:t>
            </a:r>
          </a:p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(이동욱)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48FE59-2B89-4FA0-8F99-4841EA3DAA15}"/>
              </a:ext>
            </a:extLst>
          </p:cNvPr>
          <p:cNvSpPr>
            <a:spLocks noGrp="1"/>
          </p:cNvSpPr>
          <p:nvPr/>
        </p:nvSpPr>
        <p:spPr>
          <a:xfrm>
            <a:off x="3238500" y="3314700"/>
            <a:ext cx="466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요구사항·MVP 문서화, 프로젝트 구조,</a:t>
            </a:r>
          </a:p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DART·KRX·Naver 연동, 프론트엔드,</a:t>
            </a:r>
          </a:p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Yahoo Finance·미국 Peer 기능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9CDD5A-F251-477D-A548-06927FB46546}"/>
              </a:ext>
            </a:extLst>
          </p:cNvPr>
          <p:cNvSpPr>
            <a:spLocks noGrp="1"/>
          </p:cNvSpPr>
          <p:nvPr/>
        </p:nvSpPr>
        <p:spPr>
          <a:xfrm>
            <a:off x="8553450" y="3314700"/>
            <a:ext cx="209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API·서비스 계층</a:t>
            </a:r>
          </a:p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React 화면</a:t>
            </a:r>
          </a:p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데이터 소스 연동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6328855B-B796-49AB-884B-79BB794ECA72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1026795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1BDAD1-9E35-4E82-80A0-04F324C5CF4B}"/>
              </a:ext>
            </a:extLst>
          </p:cNvPr>
          <p:cNvSpPr>
            <a:spLocks noGrp="1"/>
          </p:cNvSpPr>
          <p:nvPr/>
        </p:nvSpPr>
        <p:spPr>
          <a:xfrm>
            <a:off x="952500" y="4448175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MichelleBaek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C694FB-6CA0-4C8F-8FB0-CADAA7942CBD}"/>
              </a:ext>
            </a:extLst>
          </p:cNvPr>
          <p:cNvSpPr>
            <a:spLocks noGrp="1"/>
          </p:cNvSpPr>
          <p:nvPr/>
        </p:nvSpPr>
        <p:spPr>
          <a:xfrm>
            <a:off x="3238500" y="444817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 dirty="0" err="1">
                <a:solidFill>
                  <a:srgbClr val="52606D"/>
                </a:solidFill>
              </a:rPr>
              <a:t>리서치</a:t>
            </a:r>
            <a:r>
              <a:rPr sz="1425" b="0" dirty="0">
                <a:solidFill>
                  <a:srgbClr val="52606D"/>
                </a:solidFill>
              </a:rPr>
              <a:t> </a:t>
            </a:r>
            <a:r>
              <a:rPr sz="1425" b="0" dirty="0" err="1">
                <a:solidFill>
                  <a:srgbClr val="52606D"/>
                </a:solidFill>
              </a:rPr>
              <a:t>보고서</a:t>
            </a:r>
            <a:r>
              <a:rPr sz="1425" b="0" dirty="0">
                <a:solidFill>
                  <a:srgbClr val="52606D"/>
                </a:solidFill>
              </a:rPr>
              <a:t> </a:t>
            </a:r>
            <a:r>
              <a:rPr sz="1425" b="0" dirty="0" err="1">
                <a:solidFill>
                  <a:srgbClr val="52606D"/>
                </a:solidFill>
              </a:rPr>
              <a:t>비교·참고자료</a:t>
            </a:r>
            <a:r>
              <a:rPr sz="1425" b="0" dirty="0">
                <a:solidFill>
                  <a:srgbClr val="52606D"/>
                </a:solidFill>
              </a:rPr>
              <a:t> </a:t>
            </a:r>
            <a:r>
              <a:rPr sz="1425" b="0" dirty="0" err="1">
                <a:solidFill>
                  <a:srgbClr val="52606D"/>
                </a:solidFill>
              </a:rPr>
              <a:t>보강</a:t>
            </a:r>
            <a:endParaRPr sz="1425" b="0" dirty="0">
              <a:solidFill>
                <a:srgbClr val="52606D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86997E-43C3-414E-939B-ECA86D69FE0F}"/>
              </a:ext>
            </a:extLst>
          </p:cNvPr>
          <p:cNvSpPr>
            <a:spLocks noGrp="1"/>
          </p:cNvSpPr>
          <p:nvPr/>
        </p:nvSpPr>
        <p:spPr>
          <a:xfrm>
            <a:off x="8553450" y="44481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보고서 비교·출처</a:t>
            </a:r>
          </a:p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기능 개선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63E87E-1FAB-4475-A8BF-5946D94F05DD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※ 제출 전 실제 팀원별 역할과 이름은 팀 합의본으로 교체하세요.</a:t>
            </a:r>
          </a:p>
        </p:txBody>
      </p:sp>
    </p:spTree>
    <p:extLst>
      <p:ext uri="{BB962C8B-B14F-4D97-AF65-F5344CB8AC3E}">
        <p14:creationId xmlns:p14="http://schemas.microsoft.com/office/powerpoint/2010/main" val="205070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4333605D-B9DA-4E24-BF06-DC1997B1FB9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CD87FA-F8EA-47B1-83CE-A24552CEE4B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요구사항에서 MVP를 거쳐 기능·테스트로 단계적으로 진행했다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73CFE729-4C2E-43FF-ABDA-A2E79B2375A5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DA3AF0-DAC1-4538-B76A-F86755DE138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4E4C5A-FE83-46C2-83D6-3D3F1E83631C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6 / 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19E2489-C9F6-43BD-88BE-42957D105F6A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1085850" cy="8953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94077A-A8C4-4D15-818A-962606B6DAB2}"/>
              </a:ext>
            </a:extLst>
          </p:cNvPr>
          <p:cNvSpPr>
            <a:spLocks noGrp="1"/>
          </p:cNvSpPr>
          <p:nvPr/>
        </p:nvSpPr>
        <p:spPr>
          <a:xfrm>
            <a:off x="762000" y="3190875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요구사항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C456BB-9E7F-4E65-B057-D8F47D7E3AA2}"/>
              </a:ext>
            </a:extLst>
          </p:cNvPr>
          <p:cNvSpPr>
            <a:spLocks noGrp="1"/>
          </p:cNvSpPr>
          <p:nvPr/>
        </p:nvSpPr>
        <p:spPr>
          <a:xfrm>
            <a:off x="1790700" y="32766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7C8"/>
                </a:solidFill>
              </a:defRPr>
            </a:pPr>
            <a:r>
              <a:rPr sz="1425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EAC0EB-9296-47D5-8C7C-0932C8922349}"/>
              </a:ext>
            </a:extLst>
          </p:cNvPr>
          <p:cNvSpPr>
            <a:spLocks noGrp="1"/>
          </p:cNvSpPr>
          <p:nvPr/>
        </p:nvSpPr>
        <p:spPr>
          <a:xfrm>
            <a:off x="2047875" y="2971800"/>
            <a:ext cx="1085850" cy="8953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946606-4B94-4408-A2BC-21D510761FDE}"/>
              </a:ext>
            </a:extLst>
          </p:cNvPr>
          <p:cNvSpPr>
            <a:spLocks noGrp="1"/>
          </p:cNvSpPr>
          <p:nvPr/>
        </p:nvSpPr>
        <p:spPr>
          <a:xfrm>
            <a:off x="2124075" y="3190875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기능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분해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AE1B9A-2849-4C1D-B021-969A63840C16}"/>
              </a:ext>
            </a:extLst>
          </p:cNvPr>
          <p:cNvSpPr>
            <a:spLocks noGrp="1"/>
          </p:cNvSpPr>
          <p:nvPr/>
        </p:nvSpPr>
        <p:spPr>
          <a:xfrm>
            <a:off x="3152775" y="32766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7C8"/>
                </a:solidFill>
              </a:defRPr>
            </a:pPr>
            <a:r>
              <a:rPr sz="1425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E98A23-4FB9-41C1-BAF0-504741ED14FE}"/>
              </a:ext>
            </a:extLst>
          </p:cNvPr>
          <p:cNvSpPr>
            <a:spLocks noGrp="1"/>
          </p:cNvSpPr>
          <p:nvPr/>
        </p:nvSpPr>
        <p:spPr>
          <a:xfrm>
            <a:off x="3409950" y="2971800"/>
            <a:ext cx="1085850" cy="8953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86A06F-9E7D-42A2-A2F7-7A788ADADC84}"/>
              </a:ext>
            </a:extLst>
          </p:cNvPr>
          <p:cNvSpPr>
            <a:spLocks noGrp="1"/>
          </p:cNvSpPr>
          <p:nvPr/>
        </p:nvSpPr>
        <p:spPr>
          <a:xfrm>
            <a:off x="3486150" y="3190875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MVP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설계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C073D8-E6C8-4905-A57A-DA40DC5CAFA5}"/>
              </a:ext>
            </a:extLst>
          </p:cNvPr>
          <p:cNvSpPr>
            <a:spLocks noGrp="1"/>
          </p:cNvSpPr>
          <p:nvPr/>
        </p:nvSpPr>
        <p:spPr>
          <a:xfrm>
            <a:off x="4514850" y="32766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7C8"/>
                </a:solidFill>
              </a:defRPr>
            </a:pPr>
            <a:r>
              <a:rPr sz="1425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B6EB8B-8B72-407C-9B6B-84E843CA44A9}"/>
              </a:ext>
            </a:extLst>
          </p:cNvPr>
          <p:cNvSpPr>
            <a:spLocks noGrp="1"/>
          </p:cNvSpPr>
          <p:nvPr/>
        </p:nvSpPr>
        <p:spPr>
          <a:xfrm>
            <a:off x="4772025" y="2971800"/>
            <a:ext cx="1085850" cy="8953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FB556F-359C-40C6-8784-237B4332189B}"/>
              </a:ext>
            </a:extLst>
          </p:cNvPr>
          <p:cNvSpPr>
            <a:spLocks noGrp="1"/>
          </p:cNvSpPr>
          <p:nvPr/>
        </p:nvSpPr>
        <p:spPr>
          <a:xfrm>
            <a:off x="4848225" y="3190875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구조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생성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F5FEAA-6489-418D-A496-5C973E6014EE}"/>
              </a:ext>
            </a:extLst>
          </p:cNvPr>
          <p:cNvSpPr>
            <a:spLocks noGrp="1"/>
          </p:cNvSpPr>
          <p:nvPr/>
        </p:nvSpPr>
        <p:spPr>
          <a:xfrm>
            <a:off x="5876925" y="32766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7C8"/>
                </a:solidFill>
              </a:defRPr>
            </a:pPr>
            <a:r>
              <a:rPr sz="1425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5398F5-12BC-4344-8EAB-62DC5C5D48B6}"/>
              </a:ext>
            </a:extLst>
          </p:cNvPr>
          <p:cNvSpPr>
            <a:spLocks noGrp="1"/>
          </p:cNvSpPr>
          <p:nvPr/>
        </p:nvSpPr>
        <p:spPr>
          <a:xfrm>
            <a:off x="6134100" y="2971800"/>
            <a:ext cx="1085850" cy="8953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D248305-7C23-4606-B6A4-5FE852D7C9D3}"/>
              </a:ext>
            </a:extLst>
          </p:cNvPr>
          <p:cNvSpPr>
            <a:spLocks noGrp="1"/>
          </p:cNvSpPr>
          <p:nvPr/>
        </p:nvSpPr>
        <p:spPr>
          <a:xfrm>
            <a:off x="6210300" y="3190875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기능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구현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3D0FF40-7752-43DB-B92A-A8699B41E618}"/>
              </a:ext>
            </a:extLst>
          </p:cNvPr>
          <p:cNvSpPr>
            <a:spLocks noGrp="1"/>
          </p:cNvSpPr>
          <p:nvPr/>
        </p:nvSpPr>
        <p:spPr>
          <a:xfrm>
            <a:off x="7239000" y="32766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7C8"/>
                </a:solidFill>
              </a:defRPr>
            </a:pPr>
            <a:r>
              <a:rPr sz="1425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375DBF-09BA-44D2-8A18-616CED875DBE}"/>
              </a:ext>
            </a:extLst>
          </p:cNvPr>
          <p:cNvSpPr>
            <a:spLocks noGrp="1"/>
          </p:cNvSpPr>
          <p:nvPr/>
        </p:nvSpPr>
        <p:spPr>
          <a:xfrm>
            <a:off x="7496175" y="2971800"/>
            <a:ext cx="1085850" cy="8953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6B01869-CE35-4785-B35A-01AD1E5AEFA2}"/>
              </a:ext>
            </a:extLst>
          </p:cNvPr>
          <p:cNvSpPr>
            <a:spLocks noGrp="1"/>
          </p:cNvSpPr>
          <p:nvPr/>
        </p:nvSpPr>
        <p:spPr>
          <a:xfrm>
            <a:off x="7572375" y="3190875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통합·단위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테스트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15D51C7-892C-4974-B5CF-E9F319A6AFB5}"/>
              </a:ext>
            </a:extLst>
          </p:cNvPr>
          <p:cNvSpPr>
            <a:spLocks noGrp="1"/>
          </p:cNvSpPr>
          <p:nvPr/>
        </p:nvSpPr>
        <p:spPr>
          <a:xfrm>
            <a:off x="8601075" y="32766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7C8"/>
                </a:solidFill>
              </a:defRPr>
            </a:pPr>
            <a:r>
              <a:rPr sz="1425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DA4FEB-24B8-411E-9FC6-29F35E973986}"/>
              </a:ext>
            </a:extLst>
          </p:cNvPr>
          <p:cNvSpPr>
            <a:spLocks noGrp="1"/>
          </p:cNvSpPr>
          <p:nvPr/>
        </p:nvSpPr>
        <p:spPr>
          <a:xfrm>
            <a:off x="8858250" y="2971800"/>
            <a:ext cx="1085850" cy="8953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294A2C-5D23-4812-96C7-80CD79751F95}"/>
              </a:ext>
            </a:extLst>
          </p:cNvPr>
          <p:cNvSpPr>
            <a:spLocks noGrp="1"/>
          </p:cNvSpPr>
          <p:nvPr/>
        </p:nvSpPr>
        <p:spPr>
          <a:xfrm>
            <a:off x="8934450" y="3190875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오류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수정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EB6207A-5002-4D61-BA37-B2C8759BCD78}"/>
              </a:ext>
            </a:extLst>
          </p:cNvPr>
          <p:cNvSpPr>
            <a:spLocks noGrp="1"/>
          </p:cNvSpPr>
          <p:nvPr/>
        </p:nvSpPr>
        <p:spPr>
          <a:xfrm>
            <a:off x="9963150" y="32766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7C8"/>
                </a:solidFill>
              </a:defRPr>
            </a:pPr>
            <a:r>
              <a:rPr sz="1425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CA53439-47A5-41E9-82BE-36C4D66D77DE}"/>
              </a:ext>
            </a:extLst>
          </p:cNvPr>
          <p:cNvSpPr>
            <a:spLocks noGrp="1"/>
          </p:cNvSpPr>
          <p:nvPr/>
        </p:nvSpPr>
        <p:spPr>
          <a:xfrm>
            <a:off x="10220325" y="2971800"/>
            <a:ext cx="1085850" cy="8953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10D38E-9132-48C7-9804-ED759ECA2E81}"/>
              </a:ext>
            </a:extLst>
          </p:cNvPr>
          <p:cNvSpPr>
            <a:spLocks noGrp="1"/>
          </p:cNvSpPr>
          <p:nvPr/>
        </p:nvSpPr>
        <p:spPr>
          <a:xfrm>
            <a:off x="10296525" y="3190875"/>
            <a:ext cx="93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결과물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완성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F33E75-375B-4060-85C2-944CFB893889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7C8"/>
                </a:solidFill>
              </a:defRPr>
            </a:pPr>
            <a:r>
              <a:rPr sz="1575" b="1">
                <a:solidFill>
                  <a:srgbClr val="1677C8"/>
                </a:solidFill>
              </a:rPr>
              <a:t>산출물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9DFADB-C3B4-4CBF-8896-7E77FBA7DA78}"/>
              </a:ext>
            </a:extLst>
          </p:cNvPr>
          <p:cNvSpPr>
            <a:spLocks noGrp="1"/>
          </p:cNvSpPr>
          <p:nvPr/>
        </p:nvSpPr>
        <p:spPr>
          <a:xfrm>
            <a:off x="1857375" y="459105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요구사항 정의서  ·  기능 분해 명세  ·  MVP 실행 계획  ·  FastAPI/React 구현  ·  단위 테스트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261A4A-4BDB-4A68-AD44-82A25F159104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7C8"/>
                </a:solidFill>
              </a:defRPr>
            </a:pPr>
            <a:r>
              <a:rPr sz="1575" b="1">
                <a:solidFill>
                  <a:srgbClr val="1677C8"/>
                </a:solidFill>
              </a:rPr>
              <a:t>발생한 문제와 대응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8387F95-3784-4B8A-9E32-6C687789FF42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847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입력 오류·외부 공개 데이터 누락·참고 정보 실패는 각각 명확한 오류 또는 부분 결과로 처리</a:t>
            </a:r>
          </a:p>
        </p:txBody>
      </p:sp>
    </p:spTree>
    <p:extLst>
      <p:ext uri="{BB962C8B-B14F-4D97-AF65-F5344CB8AC3E}">
        <p14:creationId xmlns:p14="http://schemas.microsoft.com/office/powerpoint/2010/main" val="875958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9ACA0DB8-3A4E-4370-8CBD-06CA09E91F1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07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B4CF10-7623-4FE4-AC68-4BD85723F93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요청 한 건은 후보·지표·이슈·출처를 조합해 보고서로 완성된다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40C50DC0-4BB8-4F94-9159-DE99BD1899DC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9BFC2B-4A02-45B8-AFF1-5BB34415E80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B0E68A-14A2-49E1-BE18-98156717F68B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7 / 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22E146-6AE1-4835-AF10-DD5C2C3ECF53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1809750" cy="14668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D19623-540A-4431-AE2E-6888320104C6}"/>
              </a:ext>
            </a:extLst>
          </p:cNvPr>
          <p:cNvSpPr>
            <a:spLocks noGrp="1"/>
          </p:cNvSpPr>
          <p:nvPr/>
        </p:nvSpPr>
        <p:spPr>
          <a:xfrm>
            <a:off x="838200" y="30384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77C8"/>
                </a:solidFill>
              </a:defRPr>
            </a:pPr>
            <a:r>
              <a:rPr sz="1650" b="1">
                <a:solidFill>
                  <a:srgbClr val="1677C8"/>
                </a:solidFill>
              </a:rPr>
              <a:t>입력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71E58A-F8A5-4BF5-B5B9-FAAB25B873B8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1476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theme, top_n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4A1F52-84EC-4C45-9D70-4DED9EF253BD}"/>
              </a:ext>
            </a:extLst>
          </p:cNvPr>
          <p:cNvSpPr>
            <a:spLocks noGrp="1"/>
          </p:cNvSpPr>
          <p:nvPr/>
        </p:nvSpPr>
        <p:spPr>
          <a:xfrm>
            <a:off x="2505075" y="3352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77C8"/>
                </a:solidFill>
              </a:defRPr>
            </a:pPr>
            <a:r>
              <a:rPr sz="165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1CEB13-2FF7-417A-9773-D973C7AB69F4}"/>
              </a:ext>
            </a:extLst>
          </p:cNvPr>
          <p:cNvSpPr>
            <a:spLocks noGrp="1"/>
          </p:cNvSpPr>
          <p:nvPr/>
        </p:nvSpPr>
        <p:spPr>
          <a:xfrm>
            <a:off x="2857500" y="2781300"/>
            <a:ext cx="1809750" cy="14668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C73378-67C2-412B-97E4-40F5CFF0FFBD}"/>
              </a:ext>
            </a:extLst>
          </p:cNvPr>
          <p:cNvSpPr>
            <a:spLocks noGrp="1"/>
          </p:cNvSpPr>
          <p:nvPr/>
        </p:nvSpPr>
        <p:spPr>
          <a:xfrm>
            <a:off x="3028950" y="30384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77C8"/>
                </a:solidFill>
              </a:defRPr>
            </a:pPr>
            <a:r>
              <a:rPr sz="1650" b="1">
                <a:solidFill>
                  <a:srgbClr val="1677C8"/>
                </a:solidFill>
              </a:rPr>
              <a:t>정의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F9C3F9-C01E-4004-B1A7-617555346D9B}"/>
              </a:ext>
            </a:extLst>
          </p:cNvPr>
          <p:cNvSpPr>
            <a:spLocks noGrp="1"/>
          </p:cNvSpPr>
          <p:nvPr/>
        </p:nvSpPr>
        <p:spPr>
          <a:xfrm>
            <a:off x="3028950" y="3429000"/>
            <a:ext cx="1476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포함·제외 기준</a:t>
            </a:r>
          </a:p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공식 근거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07AAE2-AF01-460E-8368-33A73E38BE6E}"/>
              </a:ext>
            </a:extLst>
          </p:cNvPr>
          <p:cNvSpPr>
            <a:spLocks noGrp="1"/>
          </p:cNvSpPr>
          <p:nvPr/>
        </p:nvSpPr>
        <p:spPr>
          <a:xfrm>
            <a:off x="4695825" y="3352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77C8"/>
                </a:solidFill>
              </a:defRPr>
            </a:pPr>
            <a:r>
              <a:rPr sz="165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2F7697-97CD-4615-BB7F-4687F0C1DC99}"/>
              </a:ext>
            </a:extLst>
          </p:cNvPr>
          <p:cNvSpPr>
            <a:spLocks noGrp="1"/>
          </p:cNvSpPr>
          <p:nvPr/>
        </p:nvSpPr>
        <p:spPr>
          <a:xfrm>
            <a:off x="5048250" y="2781300"/>
            <a:ext cx="1809750" cy="14668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60F359-C96D-4A96-AAEB-B168CEDC316C}"/>
              </a:ext>
            </a:extLst>
          </p:cNvPr>
          <p:cNvSpPr>
            <a:spLocks noGrp="1"/>
          </p:cNvSpPr>
          <p:nvPr/>
        </p:nvSpPr>
        <p:spPr>
          <a:xfrm>
            <a:off x="5219700" y="30384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77C8"/>
                </a:solidFill>
              </a:defRPr>
            </a:pPr>
            <a:r>
              <a:rPr sz="1650" b="1">
                <a:solidFill>
                  <a:srgbClr val="1677C8"/>
                </a:solidFill>
              </a:rPr>
              <a:t>후보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7F9E84-D86F-481F-9613-8686E3BA9E06}"/>
              </a:ext>
            </a:extLst>
          </p:cNvPr>
          <p:cNvSpPr>
            <a:spLocks noGrp="1"/>
          </p:cNvSpPr>
          <p:nvPr/>
        </p:nvSpPr>
        <p:spPr>
          <a:xfrm>
            <a:off x="5219700" y="3429000"/>
            <a:ext cx="1476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KRX 보통주 필터</a:t>
            </a:r>
          </a:p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중복 제거·직접성 우선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C18655-ED98-42C3-91B8-97823D2971BD}"/>
              </a:ext>
            </a:extLst>
          </p:cNvPr>
          <p:cNvSpPr>
            <a:spLocks noGrp="1"/>
          </p:cNvSpPr>
          <p:nvPr/>
        </p:nvSpPr>
        <p:spPr>
          <a:xfrm>
            <a:off x="6886575" y="3352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77C8"/>
                </a:solidFill>
              </a:defRPr>
            </a:pPr>
            <a:r>
              <a:rPr sz="165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E88B92-D7E5-495D-8965-B25AD47E9225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1809750" cy="14668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8ACD22-C79D-46EB-BF1D-3F6629AADE98}"/>
              </a:ext>
            </a:extLst>
          </p:cNvPr>
          <p:cNvSpPr>
            <a:spLocks noGrp="1"/>
          </p:cNvSpPr>
          <p:nvPr/>
        </p:nvSpPr>
        <p:spPr>
          <a:xfrm>
            <a:off x="7410450" y="30384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77C8"/>
                </a:solidFill>
              </a:defRPr>
            </a:pPr>
            <a:r>
              <a:rPr sz="1650" b="1">
                <a:solidFill>
                  <a:srgbClr val="1677C8"/>
                </a:solidFill>
              </a:rPr>
              <a:t>수집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F51641B-FD49-4D3E-A66A-7D502FA61031}"/>
              </a:ext>
            </a:extLst>
          </p:cNvPr>
          <p:cNvSpPr>
            <a:spLocks noGrp="1"/>
          </p:cNvSpPr>
          <p:nvPr/>
        </p:nvSpPr>
        <p:spPr>
          <a:xfrm>
            <a:off x="7410450" y="3429000"/>
            <a:ext cx="1476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기본 지표·가격/거래량</a:t>
            </a:r>
          </a:p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뉴스·공시·리스크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64BA3D-5B49-462F-A29D-866F113904F6}"/>
              </a:ext>
            </a:extLst>
          </p:cNvPr>
          <p:cNvSpPr>
            <a:spLocks noGrp="1"/>
          </p:cNvSpPr>
          <p:nvPr/>
        </p:nvSpPr>
        <p:spPr>
          <a:xfrm>
            <a:off x="9077325" y="3352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77C8"/>
                </a:solidFill>
              </a:defRPr>
            </a:pPr>
            <a:r>
              <a:rPr sz="165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BE4988-30D8-40C2-ACD2-A13F2680DD95}"/>
              </a:ext>
            </a:extLst>
          </p:cNvPr>
          <p:cNvSpPr>
            <a:spLocks noGrp="1"/>
          </p:cNvSpPr>
          <p:nvPr/>
        </p:nvSpPr>
        <p:spPr>
          <a:xfrm>
            <a:off x="9429750" y="2781300"/>
            <a:ext cx="1809750" cy="14668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11C1393-D981-434F-9CC3-3133DED60F54}"/>
              </a:ext>
            </a:extLst>
          </p:cNvPr>
          <p:cNvSpPr>
            <a:spLocks noGrp="1"/>
          </p:cNvSpPr>
          <p:nvPr/>
        </p:nvSpPr>
        <p:spPr>
          <a:xfrm>
            <a:off x="9601200" y="30384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77C8"/>
                </a:solidFill>
              </a:defRPr>
            </a:pPr>
            <a:r>
              <a:rPr sz="1650" b="1">
                <a:solidFill>
                  <a:srgbClr val="1677C8"/>
                </a:solidFill>
              </a:rPr>
              <a:t>출력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E4BE9C1-BA3B-4951-8AC7-C5B254BB5BCD}"/>
              </a:ext>
            </a:extLst>
          </p:cNvPr>
          <p:cNvSpPr>
            <a:spLocks noGrp="1"/>
          </p:cNvSpPr>
          <p:nvPr/>
        </p:nvSpPr>
        <p:spPr>
          <a:xfrm>
            <a:off x="9601200" y="3429000"/>
            <a:ext cx="1476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화면 보고서</a:t>
            </a:r>
          </a:p>
          <a:p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Markdown + 출처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22E563-13FB-40B2-BB6B-5E65B8C0087F}"/>
              </a:ext>
            </a:extLst>
          </p:cNvPr>
          <p:cNvSpPr>
            <a:spLocks noGrp="1"/>
          </p:cNvSpPr>
          <p:nvPr/>
        </p:nvSpPr>
        <p:spPr>
          <a:xfrm>
            <a:off x="1066800" y="5000625"/>
            <a:ext cx="1004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예외 처리: 후보 부족·지표 누락은 해당 항목만 ‘확인 불가’로 표시하고 전체 리서치는 유지</a:t>
            </a:r>
          </a:p>
        </p:txBody>
      </p:sp>
    </p:spTree>
    <p:extLst>
      <p:ext uri="{BB962C8B-B14F-4D97-AF65-F5344CB8AC3E}">
        <p14:creationId xmlns:p14="http://schemas.microsoft.com/office/powerpoint/2010/main" val="1410215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C1D5D8E7-DD49-476F-A2E6-C041E69E9EC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F6D117-ACF1-48B0-A5F8-F2500FEEBCE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실제 구현 화면은 10개 섹션으로 결과를 순서대로 제공한다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6DD803-5A91-4985-8229-A143C78378CF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프론트엔드 ResearchPage 구현 기준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51BA0BE0-BFA8-459B-A4F4-776D5B26A98C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A22BA8E-A02A-4C47-87DD-04D3538AB1C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D202AB-3D55-4B0C-A767-F3E69C315486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8 / 12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1CC4B1-E07D-42F2-B58E-D8023E9A7D56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4619625" cy="4191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6F6872-C5D2-4F26-B9AD-434B38CF2519}"/>
              </a:ext>
            </a:extLst>
          </p:cNvPr>
          <p:cNvSpPr>
            <a:spLocks noGrp="1"/>
          </p:cNvSpPr>
          <p:nvPr/>
        </p:nvSpPr>
        <p:spPr>
          <a:xfrm>
            <a:off x="1047750" y="24384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1 빠른 요약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75A341-8C03-463E-A6F6-8F859BA1462C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4619625" cy="4191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C23EE4-B2D9-4AB4-8181-FA64A57762AA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 테마 정의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F32755-1F4E-40F5-B989-4F3CF9BFB1AA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4619625" cy="4191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F3AEBE-A25D-4FEF-B794-4F41EEA40417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 후보·선정 근거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744309-4401-4F53-8DEC-3C59DB531792}"/>
              </a:ext>
            </a:extLst>
          </p:cNvPr>
          <p:cNvSpPr>
            <a:spLocks noGrp="1"/>
          </p:cNvSpPr>
          <p:nvPr/>
        </p:nvSpPr>
        <p:spPr>
          <a:xfrm>
            <a:off x="838200" y="3981450"/>
            <a:ext cx="4619625" cy="4191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AA9C6F-6E74-40B9-BC5D-148D5ABD0339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 정량 비교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E5E29A-373F-4F13-A8BE-F1E76030EC4F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4619625" cy="4191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FE261C-85B7-4909-9315-4D6725D2CA5B}"/>
              </a:ext>
            </a:extLst>
          </p:cNvPr>
          <p:cNvSpPr>
            <a:spLocks noGrp="1"/>
          </p:cNvSpPr>
          <p:nvPr/>
        </p:nvSpPr>
        <p:spPr>
          <a:xfrm>
            <a:off x="1047750" y="46482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5 리스크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6D58E21-F87E-418B-A439-61572DF34418}"/>
              </a:ext>
            </a:extLst>
          </p:cNvPr>
          <p:cNvSpPr>
            <a:spLocks noGrp="1"/>
          </p:cNvSpPr>
          <p:nvPr/>
        </p:nvSpPr>
        <p:spPr>
          <a:xfrm>
            <a:off x="6029325" y="2324100"/>
            <a:ext cx="4619625" cy="4191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B360B3-A0E6-4CF7-9319-CCF414CD369C}"/>
              </a:ext>
            </a:extLst>
          </p:cNvPr>
          <p:cNvSpPr>
            <a:spLocks noGrp="1"/>
          </p:cNvSpPr>
          <p:nvPr/>
        </p:nvSpPr>
        <p:spPr>
          <a:xfrm>
            <a:off x="6238875" y="24384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6 뉴스·공시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7B2DF9-204D-433C-BF0E-0105E3A97F7A}"/>
              </a:ext>
            </a:extLst>
          </p:cNvPr>
          <p:cNvSpPr>
            <a:spLocks noGrp="1"/>
          </p:cNvSpPr>
          <p:nvPr/>
        </p:nvSpPr>
        <p:spPr>
          <a:xfrm>
            <a:off x="6029325" y="2876550"/>
            <a:ext cx="4619625" cy="4191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E23655-9BFD-4AE2-8992-B65247C0307E}"/>
              </a:ext>
            </a:extLst>
          </p:cNvPr>
          <p:cNvSpPr>
            <a:spLocks noGrp="1"/>
          </p:cNvSpPr>
          <p:nvPr/>
        </p:nvSpPr>
        <p:spPr>
          <a:xfrm>
            <a:off x="6238875" y="299085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7 미국 동향(참고)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15B1DF-9504-49B8-99F8-320562F13168}"/>
              </a:ext>
            </a:extLst>
          </p:cNvPr>
          <p:cNvSpPr>
            <a:spLocks noGrp="1"/>
          </p:cNvSpPr>
          <p:nvPr/>
        </p:nvSpPr>
        <p:spPr>
          <a:xfrm>
            <a:off x="6029325" y="3429000"/>
            <a:ext cx="4619625" cy="4191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B7F410-7BAF-4B5F-8835-DA1676E9EEA6}"/>
              </a:ext>
            </a:extLst>
          </p:cNvPr>
          <p:cNvSpPr>
            <a:spLocks noGrp="1"/>
          </p:cNvSpPr>
          <p:nvPr/>
        </p:nvSpPr>
        <p:spPr>
          <a:xfrm>
            <a:off x="6238875" y="3543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8 미국 Peer(참고)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4FC55B8-4124-44FB-AECB-36D13F3CBD4D}"/>
              </a:ext>
            </a:extLst>
          </p:cNvPr>
          <p:cNvSpPr>
            <a:spLocks noGrp="1"/>
          </p:cNvSpPr>
          <p:nvPr/>
        </p:nvSpPr>
        <p:spPr>
          <a:xfrm>
            <a:off x="6029325" y="3981450"/>
            <a:ext cx="4619625" cy="4191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1DBFA1B-30E6-4F24-8E20-16FDE1E2A8E3}"/>
              </a:ext>
            </a:extLst>
          </p:cNvPr>
          <p:cNvSpPr>
            <a:spLocks noGrp="1"/>
          </p:cNvSpPr>
          <p:nvPr/>
        </p:nvSpPr>
        <p:spPr>
          <a:xfrm>
            <a:off x="6238875" y="409575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9 운용사 동향(참고)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12FBCF1-9332-4FE1-9375-2C230C653481}"/>
              </a:ext>
            </a:extLst>
          </p:cNvPr>
          <p:cNvSpPr>
            <a:spLocks noGrp="1"/>
          </p:cNvSpPr>
          <p:nvPr/>
        </p:nvSpPr>
        <p:spPr>
          <a:xfrm>
            <a:off x="6029325" y="4533900"/>
            <a:ext cx="4619625" cy="4191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C622E13-7B80-420C-B223-4C8890603870}"/>
              </a:ext>
            </a:extLst>
          </p:cNvPr>
          <p:cNvSpPr>
            <a:spLocks noGrp="1"/>
          </p:cNvSpPr>
          <p:nvPr/>
        </p:nvSpPr>
        <p:spPr>
          <a:xfrm>
            <a:off x="6238875" y="46482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10 출처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0D6C92A-7D38-49AE-9A20-0801442260C5}"/>
              </a:ext>
            </a:extLst>
          </p:cNvPr>
          <p:cNvSpPr>
            <a:spLocks noGrp="1"/>
          </p:cNvSpPr>
          <p:nvPr/>
        </p:nvSpPr>
        <p:spPr>
          <a:xfrm>
            <a:off x="838200" y="5391150"/>
            <a:ext cx="9810750" cy="4953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76B01D3-146F-41BB-81C4-B519393C28DF}"/>
              </a:ext>
            </a:extLst>
          </p:cNvPr>
          <p:cNvSpPr>
            <a:spLocks noGrp="1"/>
          </p:cNvSpPr>
          <p:nvPr/>
        </p:nvSpPr>
        <p:spPr>
          <a:xfrm>
            <a:off x="1066800" y="5524500"/>
            <a:ext cx="9382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화면은 입력 폼 → API 요청 → 구조화된 report 렌더링 순서로 동작하며, 오류·로딩 상태를 별도로 표시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28FD4A4-F0A0-46FA-B1CD-7A5A69974B01}"/>
              </a:ext>
            </a:extLst>
          </p:cNvPr>
          <p:cNvSpPr>
            <a:spLocks noGrp="1"/>
          </p:cNvSpPr>
          <p:nvPr/>
        </p:nvSpPr>
        <p:spPr>
          <a:xfrm>
            <a:off x="838200" y="6115050"/>
            <a:ext cx="762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B45309"/>
                </a:solidFill>
              </a:defRPr>
            </a:pPr>
            <a:r>
              <a:rPr sz="1050" b="0">
                <a:solidFill>
                  <a:srgbClr val="B45309"/>
                </a:solidFill>
              </a:rPr>
              <a:t>실행 화면 캡처는 로컬 포트 실행 권한 제한으로 자동 수집하지 못함</a:t>
            </a:r>
          </a:p>
        </p:txBody>
      </p:sp>
    </p:spTree>
    <p:extLst>
      <p:ext uri="{BB962C8B-B14F-4D97-AF65-F5344CB8AC3E}">
        <p14:creationId xmlns:p14="http://schemas.microsoft.com/office/powerpoint/2010/main" val="2089473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A7D430-5599-4BB2-AE70-98CB5632895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09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DE1AD8-F65B-4463-8EE8-075CD99D7A9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45개 자동 테스트와 프론트엔드 빌드로 핵심 동작을 확인했다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407AF0-E634-4356-8CC2-561BAC93B0DC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2026-07-28 로컬 실행 결과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870B0430-7500-4917-9180-7B0916F1F87E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A2A537-E98C-42CE-B455-0EC7CBD0781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5FF2DF-AB92-4364-82D2-246105C87681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9 / 12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6910A3-8C78-490C-ABE3-FED8AAFA7E6B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2905125" cy="23622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750A65-C8D1-41B2-99E2-40F9F656588C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190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0" b="1">
                <a:solidFill>
                  <a:srgbClr val="1677C8"/>
                </a:solidFill>
              </a:defRPr>
            </a:pPr>
            <a:r>
              <a:rPr sz="4800" b="1">
                <a:solidFill>
                  <a:srgbClr val="1677C8"/>
                </a:solidFill>
              </a:rPr>
              <a:t>45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45A93-6B97-4140-AFAC-0ED8BDAB81A2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backend unit tests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F5DC35-7880-4358-B8EA-0AAC9E454338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F8A70"/>
                </a:solidFill>
              </a:defRPr>
            </a:pPr>
            <a:r>
              <a:rPr sz="1500" b="1">
                <a:solidFill>
                  <a:srgbClr val="1F8A70"/>
                </a:solidFill>
              </a:rPr>
              <a:t>전체 통과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D4DCA7-F3B6-4314-9E24-8508C96778C2}"/>
              </a:ext>
            </a:extLst>
          </p:cNvPr>
          <p:cNvSpPr>
            <a:spLocks noGrp="1"/>
          </p:cNvSpPr>
          <p:nvPr/>
        </p:nvSpPr>
        <p:spPr>
          <a:xfrm>
            <a:off x="4238625" y="2400300"/>
            <a:ext cx="3143250" cy="23622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114EBF-1579-4E71-855B-5BA6FB511CC6}"/>
              </a:ext>
            </a:extLst>
          </p:cNvPr>
          <p:cNvSpPr>
            <a:spLocks noGrp="1"/>
          </p:cNvSpPr>
          <p:nvPr/>
        </p:nvSpPr>
        <p:spPr>
          <a:xfrm>
            <a:off x="4533900" y="27051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검증 범위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EDF654C-A2A7-4DE3-B5B4-58E1AE3B74E1}"/>
              </a:ext>
            </a:extLst>
          </p:cNvPr>
          <p:cNvSpPr>
            <a:spLocks noGrp="1"/>
          </p:cNvSpPr>
          <p:nvPr/>
        </p:nvSpPr>
        <p:spPr>
          <a:xfrm>
            <a:off x="4533900" y="32575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7C8"/>
                </a:solidFill>
              </a:defRPr>
            </a:pPr>
            <a:r>
              <a:rPr sz="1575" b="1">
                <a:solidFill>
                  <a:srgbClr val="1677C8"/>
                </a:solidFill>
              </a:rPr>
              <a:t>•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F8FDBA-9266-4FC1-960D-12BD298462B1}"/>
              </a:ext>
            </a:extLst>
          </p:cNvPr>
          <p:cNvSpPr>
            <a:spLocks noGrp="1"/>
          </p:cNvSpPr>
          <p:nvPr/>
        </p:nvSpPr>
        <p:spPr>
          <a:xfrm>
            <a:off x="4800600" y="325755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입력 검증·후보 필터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64CB52-8CCE-4972-81D1-5C97754D5A23}"/>
              </a:ext>
            </a:extLst>
          </p:cNvPr>
          <p:cNvSpPr>
            <a:spLocks noGrp="1"/>
          </p:cNvSpPr>
          <p:nvPr/>
        </p:nvSpPr>
        <p:spPr>
          <a:xfrm>
            <a:off x="4533900" y="36671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FEDEB3-A467-4B70-B06A-AFFA9056C189}"/>
              </a:ext>
            </a:extLst>
          </p:cNvPr>
          <p:cNvSpPr>
            <a:spLocks noGrp="1"/>
          </p:cNvSpPr>
          <p:nvPr/>
        </p:nvSpPr>
        <p:spPr>
          <a:xfrm>
            <a:off x="4800600" y="3667125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테마 정의·출처 규칙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E4139A-F3CF-42AC-974F-391B27E4FDE8}"/>
              </a:ext>
            </a:extLst>
          </p:cNvPr>
          <p:cNvSpPr>
            <a:spLocks noGrp="1"/>
          </p:cNvSpPr>
          <p:nvPr/>
        </p:nvSpPr>
        <p:spPr>
          <a:xfrm>
            <a:off x="4533900" y="40767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AADC75-FA97-4419-9024-9AB483763B52}"/>
              </a:ext>
            </a:extLst>
          </p:cNvPr>
          <p:cNvSpPr>
            <a:spLocks noGrp="1"/>
          </p:cNvSpPr>
          <p:nvPr/>
        </p:nvSpPr>
        <p:spPr>
          <a:xfrm>
            <a:off x="4800600" y="407670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가격/거래량·리스크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5D518C-A25C-47E1-A37A-7A5DC14B42D8}"/>
              </a:ext>
            </a:extLst>
          </p:cNvPr>
          <p:cNvSpPr>
            <a:spLocks noGrp="1"/>
          </p:cNvSpPr>
          <p:nvPr/>
        </p:nvSpPr>
        <p:spPr>
          <a:xfrm>
            <a:off x="8029575" y="2400300"/>
            <a:ext cx="3476625" cy="23622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19788B-CC2B-404A-9A91-D19C82E5E723}"/>
              </a:ext>
            </a:extLst>
          </p:cNvPr>
          <p:cNvSpPr>
            <a:spLocks noGrp="1"/>
          </p:cNvSpPr>
          <p:nvPr/>
        </p:nvSpPr>
        <p:spPr>
          <a:xfrm>
            <a:off x="8334375" y="2705100"/>
            <a:ext cx="242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Frontend build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421369-B766-4F7C-A740-434A306B93D5}"/>
              </a:ext>
            </a:extLst>
          </p:cNvPr>
          <p:cNvSpPr>
            <a:spLocks noGrp="1"/>
          </p:cNvSpPr>
          <p:nvPr/>
        </p:nvSpPr>
        <p:spPr>
          <a:xfrm>
            <a:off x="8334375" y="3238500"/>
            <a:ext cx="247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TypeScript 검사 + Vite</a:t>
            </a:r>
          </a:p>
          <a:p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프로덕션 번들 생성 성공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B14485-F36A-438A-82FF-2D6D5200F9A8}"/>
              </a:ext>
            </a:extLst>
          </p:cNvPr>
          <p:cNvSpPr>
            <a:spLocks noGrp="1"/>
          </p:cNvSpPr>
          <p:nvPr/>
        </p:nvSpPr>
        <p:spPr>
          <a:xfrm>
            <a:off x="8334375" y="4133850"/>
            <a:ext cx="1752600" cy="3238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05B1AD3-8C6A-4375-AEB7-719F1C6CB105}"/>
              </a:ext>
            </a:extLst>
          </p:cNvPr>
          <p:cNvSpPr>
            <a:spLocks noGrp="1"/>
          </p:cNvSpPr>
          <p:nvPr/>
        </p:nvSpPr>
        <p:spPr>
          <a:xfrm>
            <a:off x="8334375" y="4200525"/>
            <a:ext cx="1752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F8A70"/>
                </a:solidFill>
              </a:defRPr>
            </a:pPr>
            <a:r>
              <a:rPr sz="1050" b="1">
                <a:solidFill>
                  <a:srgbClr val="1F8A70"/>
                </a:solidFill>
              </a:rPr>
              <a:t>✓ build succeeded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26C7540-0094-4FAA-B4BC-617A5E8E880C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752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실행 명령: backend make check  /  frontend npm run build</a:t>
            </a:r>
          </a:p>
        </p:txBody>
      </p:sp>
    </p:spTree>
    <p:extLst>
      <p:ext uri="{BB962C8B-B14F-4D97-AF65-F5344CB8AC3E}">
        <p14:creationId xmlns:p14="http://schemas.microsoft.com/office/powerpoint/2010/main" val="64002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92B7D4-B8EC-498C-82DF-0151CC2599D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010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6C4360-768C-4DB1-BE32-B9483DFA04C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시연은 ‘입력부터 출처 확인’까지 대표 흐름을 보여준다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9C8E67-EB64-4F1C-8ACA-8455D19DA734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저장소에서 별도 시연 영상 파일은 확인되지 않았음.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5D8BCE28-6BA6-4DD2-9B09-F7BF91831E45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792F42-6498-4898-BB2B-169950BF4BB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443DFC-FEA7-4D13-BCED-9B4C3B319BA3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10 / 12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10FAA8-B7E6-4108-8389-06274641E6A5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7C8"/>
                </a:solidFill>
              </a:defRPr>
            </a:pPr>
            <a:r>
              <a:rPr sz="1575" b="1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60AEE2-935E-4D94-ABA1-5A61D7A3C6B0}"/>
              </a:ext>
            </a:extLst>
          </p:cNvPr>
          <p:cNvSpPr>
            <a:spLocks noGrp="1"/>
          </p:cNvSpPr>
          <p:nvPr/>
        </p:nvSpPr>
        <p:spPr>
          <a:xfrm>
            <a:off x="1381125" y="23812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테마 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16BA2D-68E1-4460-B2F6-412A6533A1A9}"/>
              </a:ext>
            </a:extLst>
          </p:cNvPr>
          <p:cNvSpPr>
            <a:spLocks noGrp="1"/>
          </p:cNvSpPr>
          <p:nvPr/>
        </p:nvSpPr>
        <p:spPr>
          <a:xfrm>
            <a:off x="3333750" y="23812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예: 2차전지, top_n=5</a:t>
            </a:r>
          </a:p>
        </p:txBody>
      </p:sp>
      <p:sp>
        <p:nvSpPr>
          <p:cNvPr id="10" name="직선 연결선[R] 9">
            <a:extLst>
              <a:ext uri="{FF2B5EF4-FFF2-40B4-BE49-F238E27FC236}">
                <a16:creationId xmlns:a16="http://schemas.microsoft.com/office/drawing/2014/main" id="{ABBE8A81-BBF2-45E0-B07D-14D9B199FB22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9753600" cy="0"/>
          </a:xfrm>
          <a:prstGeom prst="line">
            <a:avLst/>
          </a:prstGeom>
          <a:ln w="9525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44410-CB04-4058-8CF3-1AAE535C9FB1}"/>
              </a:ext>
            </a:extLst>
          </p:cNvPr>
          <p:cNvSpPr>
            <a:spLocks noGrp="1"/>
          </p:cNvSpPr>
          <p:nvPr/>
        </p:nvSpPr>
        <p:spPr>
          <a:xfrm>
            <a:off x="819150" y="31623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7C8"/>
                </a:solidFill>
              </a:defRPr>
            </a:pPr>
            <a:r>
              <a:rPr sz="1575" b="1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932D43-1F66-4E05-B3C2-3315EFFBC667}"/>
              </a:ext>
            </a:extLst>
          </p:cNvPr>
          <p:cNvSpPr>
            <a:spLocks noGrp="1"/>
          </p:cNvSpPr>
          <p:nvPr/>
        </p:nvSpPr>
        <p:spPr>
          <a:xfrm>
            <a:off x="1381125" y="31623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보고서 생성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99D944-CEC2-4E17-BE0E-A43BF007C3F7}"/>
              </a:ext>
            </a:extLst>
          </p:cNvPr>
          <p:cNvSpPr>
            <a:spLocks noGrp="1"/>
          </p:cNvSpPr>
          <p:nvPr/>
        </p:nvSpPr>
        <p:spPr>
          <a:xfrm>
            <a:off x="3333750" y="31623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후보·지표·뉴스 결과 확인</a:t>
            </a:r>
          </a:p>
        </p:txBody>
      </p:sp>
      <p:sp>
        <p:nvSpPr>
          <p:cNvPr id="14" name="직선 연결선[R] 13">
            <a:extLst>
              <a:ext uri="{FF2B5EF4-FFF2-40B4-BE49-F238E27FC236}">
                <a16:creationId xmlns:a16="http://schemas.microsoft.com/office/drawing/2014/main" id="{AF8F62D9-C295-419C-9739-02303FC186E6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9753600" cy="0"/>
          </a:xfrm>
          <a:prstGeom prst="line">
            <a:avLst/>
          </a:prstGeom>
          <a:ln w="9525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4F6472-16ED-4C0D-8630-9B0143BE2C12}"/>
              </a:ext>
            </a:extLst>
          </p:cNvPr>
          <p:cNvSpPr>
            <a:spLocks noGrp="1"/>
          </p:cNvSpPr>
          <p:nvPr/>
        </p:nvSpPr>
        <p:spPr>
          <a:xfrm>
            <a:off x="819150" y="39433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7C8"/>
                </a:solidFill>
              </a:defRPr>
            </a:pPr>
            <a:r>
              <a:rPr sz="1575" b="1">
                <a:solidFill>
                  <a:srgbClr val="1677C8"/>
                </a:solidFill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6F2FCC-13C9-47A4-8BD6-B128E46EA64C}"/>
              </a:ext>
            </a:extLst>
          </p:cNvPr>
          <p:cNvSpPr>
            <a:spLocks noGrp="1"/>
          </p:cNvSpPr>
          <p:nvPr/>
        </p:nvSpPr>
        <p:spPr>
          <a:xfrm>
            <a:off x="1381125" y="3943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근거 확인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36D39D-FA85-4BBA-BCDA-B71DE00F5098}"/>
              </a:ext>
            </a:extLst>
          </p:cNvPr>
          <p:cNvSpPr>
            <a:spLocks noGrp="1"/>
          </p:cNvSpPr>
          <p:nvPr/>
        </p:nvSpPr>
        <p:spPr>
          <a:xfrm>
            <a:off x="3333750" y="39433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후보 선정 사유·출처 링크 확인</a:t>
            </a:r>
          </a:p>
        </p:txBody>
      </p:sp>
      <p:sp>
        <p:nvSpPr>
          <p:cNvPr id="18" name="직선 연결선[R] 17">
            <a:extLst>
              <a:ext uri="{FF2B5EF4-FFF2-40B4-BE49-F238E27FC236}">
                <a16:creationId xmlns:a16="http://schemas.microsoft.com/office/drawing/2014/main" id="{468DC20A-E1D8-438F-9299-CF52DBBFE444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9753600" cy="0"/>
          </a:xfrm>
          <a:prstGeom prst="line">
            <a:avLst/>
          </a:prstGeom>
          <a:ln w="9525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E2A7B0-06A2-4BC5-99FE-ACECFE90582C}"/>
              </a:ext>
            </a:extLst>
          </p:cNvPr>
          <p:cNvSpPr>
            <a:spLocks noGrp="1"/>
          </p:cNvSpPr>
          <p:nvPr/>
        </p:nvSpPr>
        <p:spPr>
          <a:xfrm>
            <a:off x="819150" y="47244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7C8"/>
                </a:solidFill>
              </a:defRPr>
            </a:pPr>
            <a:r>
              <a:rPr sz="1575" b="1">
                <a:solidFill>
                  <a:srgbClr val="1677C8"/>
                </a:solidFill>
              </a:rPr>
              <a:t>4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7114AC8-01C9-4D4C-BF64-A281AF612C9F}"/>
              </a:ext>
            </a:extLst>
          </p:cNvPr>
          <p:cNvSpPr>
            <a:spLocks noGrp="1"/>
          </p:cNvSpPr>
          <p:nvPr/>
        </p:nvSpPr>
        <p:spPr>
          <a:xfrm>
            <a:off x="1381125" y="47244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예외 확인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E6097A-8380-4E15-B343-0894C4710E47}"/>
              </a:ext>
            </a:extLst>
          </p:cNvPr>
          <p:cNvSpPr>
            <a:spLocks noGrp="1"/>
          </p:cNvSpPr>
          <p:nvPr/>
        </p:nvSpPr>
        <p:spPr>
          <a:xfrm>
            <a:off x="3333750" y="47244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빈 입력/후보 부족/지표 누락 확인</a:t>
            </a:r>
          </a:p>
        </p:txBody>
      </p:sp>
      <p:sp>
        <p:nvSpPr>
          <p:cNvPr id="22" name="직선 연결선[R] 21">
            <a:extLst>
              <a:ext uri="{FF2B5EF4-FFF2-40B4-BE49-F238E27FC236}">
                <a16:creationId xmlns:a16="http://schemas.microsoft.com/office/drawing/2014/main" id="{7EB5DA9F-4F90-4588-8E73-D5CB3EA64419}"/>
              </a:ext>
            </a:extLst>
          </p:cNvPr>
          <p:cNvSpPr>
            <a:spLocks noGrp="1"/>
          </p:cNvSpPr>
          <p:nvPr/>
        </p:nvSpPr>
        <p:spPr>
          <a:xfrm>
            <a:off x="819150" y="5181600"/>
            <a:ext cx="9753600" cy="0"/>
          </a:xfrm>
          <a:prstGeom prst="line">
            <a:avLst/>
          </a:prstGeom>
          <a:ln w="9525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923FA96-CE28-4BA7-9844-C8AC51F9C159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2381250" cy="238125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84475CA-6DA8-473B-A0B5-D52E997130B2}"/>
              </a:ext>
            </a:extLst>
          </p:cNvPr>
          <p:cNvSpPr>
            <a:spLocks noGrp="1"/>
          </p:cNvSpPr>
          <p:nvPr/>
        </p:nvSpPr>
        <p:spPr>
          <a:xfrm>
            <a:off x="9144000" y="27146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시연 영상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CC76AE5-D93D-48FF-8BA7-B9932034A346}"/>
              </a:ext>
            </a:extLst>
          </p:cNvPr>
          <p:cNvSpPr>
            <a:spLocks noGrp="1"/>
          </p:cNvSpPr>
          <p:nvPr/>
        </p:nvSpPr>
        <p:spPr>
          <a:xfrm>
            <a:off x="9124950" y="3333750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발표 전</a:t>
            </a:r>
          </a:p>
          <a:p>
            <a:pPr algn="ctr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녹화본 또는 QR</a:t>
            </a:r>
          </a:p>
          <a:p>
            <a:pPr algn="ctr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삽입 필요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72790FC-1350-4013-9D48-F141BFF385B7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GitHub 확인 자료: 커밋 이력·README·테스트 실행 결과를 함께 제시</a:t>
            </a:r>
          </a:p>
        </p:txBody>
      </p:sp>
    </p:spTree>
    <p:extLst>
      <p:ext uri="{BB962C8B-B14F-4D97-AF65-F5344CB8AC3E}">
        <p14:creationId xmlns:p14="http://schemas.microsoft.com/office/powerpoint/2010/main" val="46754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C263B786-DC35-4391-BC7D-8F0CE79F88F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011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3308BD-2962-412F-B9BB-3BE647A8F74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핵심 목표는 달성했지만, 데이터 완결성은 다음 단계 과제다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C3DFE833-D9EB-4757-8371-41DF82D84699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ln w="19050">
            <a:solidFill>
              <a:srgbClr val="CAD5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F9EAD8-76A8-4CED-8102-A3B3B8A9D05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테마 주식 리서치 에이전트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4DEAAC-0D1F-40B4-B788-DF607640B431}"/>
              </a:ext>
            </a:extLst>
          </p:cNvPr>
          <p:cNvSpPr>
            <a:spLocks noGrp="1"/>
          </p:cNvSpPr>
          <p:nvPr/>
        </p:nvSpPr>
        <p:spPr>
          <a:xfrm>
            <a:off x="10763250" y="64960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11 / 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918DB0-C7AA-4AD6-8F0E-F3ED1ABEBD6B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3143250" cy="25908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4BEE97-2960-490D-87A1-A16B6C24C78A}"/>
              </a:ext>
            </a:extLst>
          </p:cNvPr>
          <p:cNvSpPr>
            <a:spLocks noGrp="1"/>
          </p:cNvSpPr>
          <p:nvPr/>
        </p:nvSpPr>
        <p:spPr>
          <a:xfrm>
            <a:off x="971550" y="28575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잘한 점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5E38E658-5210-4112-BC29-72A09447353A}"/>
              </a:ext>
            </a:extLst>
          </p:cNvPr>
          <p:cNvSpPr>
            <a:spLocks noGrp="1"/>
          </p:cNvSpPr>
          <p:nvPr/>
        </p:nvSpPr>
        <p:spPr>
          <a:xfrm>
            <a:off x="971550" y="3314700"/>
            <a:ext cx="2476500" cy="0"/>
          </a:xfrm>
          <a:prstGeom prst="line">
            <a:avLst/>
          </a:prstGeom>
          <a:ln w="28575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3C3113-3B1D-4D46-9F85-823F017159A4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247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국내 KRX 보통주 중심의 명확한 범위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공개 출처와 결과 보고서를 연결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참고 정보 실패가 국내 결과를 막지 않음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AAF87A-CF98-4334-8FC2-03811EFF1941}"/>
              </a:ext>
            </a:extLst>
          </p:cNvPr>
          <p:cNvSpPr>
            <a:spLocks noGrp="1"/>
          </p:cNvSpPr>
          <p:nvPr/>
        </p:nvSpPr>
        <p:spPr>
          <a:xfrm>
            <a:off x="4324350" y="2514600"/>
            <a:ext cx="3143250" cy="25908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3A1A71-B526-4A5D-8E09-922BE358E1B0}"/>
              </a:ext>
            </a:extLst>
          </p:cNvPr>
          <p:cNvSpPr>
            <a:spLocks noGrp="1"/>
          </p:cNvSpPr>
          <p:nvPr/>
        </p:nvSpPr>
        <p:spPr>
          <a:xfrm>
            <a:off x="4610100" y="28575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아쉬운 점</a:t>
            </a:r>
          </a:p>
        </p:txBody>
      </p:sp>
      <p:sp>
        <p:nvSpPr>
          <p:cNvPr id="12" name="직선 연결선[R] 11">
            <a:extLst>
              <a:ext uri="{FF2B5EF4-FFF2-40B4-BE49-F238E27FC236}">
                <a16:creationId xmlns:a16="http://schemas.microsoft.com/office/drawing/2014/main" id="{A0DE868A-898C-44DB-B21E-1A2CE3B8878E}"/>
              </a:ext>
            </a:extLst>
          </p:cNvPr>
          <p:cNvSpPr>
            <a:spLocks noGrp="1"/>
          </p:cNvSpPr>
          <p:nvPr/>
        </p:nvSpPr>
        <p:spPr>
          <a:xfrm>
            <a:off x="4610100" y="3314700"/>
            <a:ext cx="2476500" cy="0"/>
          </a:xfrm>
          <a:prstGeom prst="line">
            <a:avLst/>
          </a:prstGeom>
          <a:ln w="28575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A6ADD3C-36A4-4BF0-887B-FB935BC587F8}"/>
              </a:ext>
            </a:extLst>
          </p:cNvPr>
          <p:cNvSpPr>
            <a:spLocks noGrp="1"/>
          </p:cNvSpPr>
          <p:nvPr/>
        </p:nvSpPr>
        <p:spPr>
          <a:xfrm>
            <a:off x="4610100" y="3600450"/>
            <a:ext cx="247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실시간 데이터 품질은 외부 제공처에 의존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테마별 사업 비중은 비공개일 수 있음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시연 영상·배포 결과물은 별도 보강 필요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2C253B-566A-4C90-9E5E-26253C5C3945}"/>
              </a:ext>
            </a:extLst>
          </p:cNvPr>
          <p:cNvSpPr>
            <a:spLocks noGrp="1"/>
          </p:cNvSpPr>
          <p:nvPr/>
        </p:nvSpPr>
        <p:spPr>
          <a:xfrm>
            <a:off x="7962900" y="2514600"/>
            <a:ext cx="3143250" cy="259080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EF8C07-0937-489F-82F3-0779E540A57A}"/>
              </a:ext>
            </a:extLst>
          </p:cNvPr>
          <p:cNvSpPr>
            <a:spLocks noGrp="1"/>
          </p:cNvSpPr>
          <p:nvPr/>
        </p:nvSpPr>
        <p:spPr>
          <a:xfrm>
            <a:off x="8248650" y="28575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개선 방향</a:t>
            </a:r>
          </a:p>
        </p:txBody>
      </p:sp>
      <p:sp>
        <p:nvSpPr>
          <p:cNvPr id="16" name="직선 연결선[R] 15">
            <a:extLst>
              <a:ext uri="{FF2B5EF4-FFF2-40B4-BE49-F238E27FC236}">
                <a16:creationId xmlns:a16="http://schemas.microsoft.com/office/drawing/2014/main" id="{BFC97580-A77C-41D3-ADAA-E941FC3A92C7}"/>
              </a:ext>
            </a:extLst>
          </p:cNvPr>
          <p:cNvSpPr>
            <a:spLocks noGrp="1"/>
          </p:cNvSpPr>
          <p:nvPr/>
        </p:nvSpPr>
        <p:spPr>
          <a:xfrm>
            <a:off x="8248650" y="3314700"/>
            <a:ext cx="2476500" cy="0"/>
          </a:xfrm>
          <a:prstGeom prst="line">
            <a:avLst/>
          </a:prstGeom>
          <a:ln w="28575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444489-FA3E-46B1-817D-E4247F5CFEAD}"/>
              </a:ext>
            </a:extLst>
          </p:cNvPr>
          <p:cNvSpPr>
            <a:spLocks noGrp="1"/>
          </p:cNvSpPr>
          <p:nvPr/>
        </p:nvSpPr>
        <p:spPr>
          <a:xfrm>
            <a:off x="8248650" y="3600450"/>
            <a:ext cx="247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실행 화면·데모 영상 확보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가격·거래량 분석 범위 고도화</a:t>
            </a:r>
          </a:p>
          <a:p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출처별 기준 차이와 데이터 품질 표시 강화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7926C8-D4F0-4F93-B0C7-4B42241FE56E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배운 점: 데이터의 ‘값’뿐 아니라, 근거·기준일·누락 처리를 함께 설계해야 재현 가능한 리서치 결과가 된다.</a:t>
            </a:r>
          </a:p>
        </p:txBody>
      </p:sp>
    </p:spTree>
    <p:extLst>
      <p:ext uri="{BB962C8B-B14F-4D97-AF65-F5344CB8AC3E}">
        <p14:creationId xmlns:p14="http://schemas.microsoft.com/office/powerpoint/2010/main" val="1864611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22D0C14-094D-44A3-A1E5-22EA673F0877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PROJECT SUMMARY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75E19F-F4DB-4C0F-A513-5CCD6399B17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382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공개 정보로</a:t>
            </a:r>
          </a:p>
          <a:p>
            <a:pPr algn="l"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검증 가능한 비교를 만든다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812B5B-5312-43BA-85B0-95F305419E17}"/>
              </a:ext>
            </a:extLst>
          </p:cNvPr>
          <p:cNvSpPr>
            <a:spLocks noGrp="1"/>
          </p:cNvSpPr>
          <p:nvPr/>
        </p:nvSpPr>
        <p:spPr>
          <a:xfrm>
            <a:off x="723900" y="308610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52606D"/>
                </a:solidFill>
              </a:defRPr>
            </a:pPr>
            <a:r>
              <a:rPr sz="1875" b="0">
                <a:solidFill>
                  <a:srgbClr val="52606D"/>
                </a:solidFill>
              </a:rPr>
              <a:t>테마 정의 → 국내 후보 선별 → 지표·이슈 비교 → 출처가 남는 보고서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52F97904-8531-4686-B437-77FDA3AA680F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9886950" cy="0"/>
          </a:xfrm>
          <a:prstGeom prst="line">
            <a:avLst/>
          </a:prstGeom>
          <a:ln w="38100">
            <a:solidFill>
              <a:srgbClr val="167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3FA2FD-05A0-4217-9A38-424A3965BC59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본 결과는 정보 제공 및 리서치 보조 목적이며, 투자 조언이 아닙니다.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F4BA70-1487-4567-8186-51802266C47A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참고 문서: README.md · docs/requirements.md · docs/function-breakdown.md · docs/MVP-plan.md · Git commit history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67CAF3-C665-48D8-B6D7-0BC8E9ECA4C5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7C8"/>
                </a:solidFill>
              </a:defRPr>
            </a:pPr>
            <a:r>
              <a:rPr sz="1800" b="1">
                <a:solidFill>
                  <a:srgbClr val="1677C8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905450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981</Words>
  <Application>Microsoft Macintosh PowerPoint</Application>
  <DocSecurity>0</DocSecurity>
  <PresentationFormat>와이드스크린</PresentationFormat>
  <Paragraphs>230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성용 이</cp:lastModifiedBy>
  <cp:revision>1</cp:revision>
  <dcterms:created xsi:type="dcterms:W3CDTF">2026-07-28T11:22:51Z</dcterms:created>
  <dcterms:modified xsi:type="dcterms:W3CDTF">2026-07-28T11:28:17Z</dcterms:modified>
</cp:coreProperties>
</file>